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 Black"/>
              </a:rPr>
              <a:t>ABC 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6634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Arial Black"/>
              </a:rPr>
              <a:t>2026 年暑期家长开放日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  <a:latin typeface="Calibri"/>
              </a:rPr>
              <a:t>2026 年 7 月  |  让每个孩子成为更好的自己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 Black"/>
              </a:rPr>
              <a:t>01</a:t>
            </a:r>
          </a:p>
          <a:p>
            <a:pPr algn="ctr">
              <a:spcBef>
                <a:spcPts val="1200"/>
              </a:spcBef>
            </a:pPr>
            <a:r>
              <a:rPr sz="3600" b="1">
                <a:solidFill>
                  <a:srgbClr val="FFFFFF"/>
                </a:solidFill>
                <a:latin typeface="Arial Black"/>
              </a:rPr>
              <a:t>关于我们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 Black"/>
              </a:rPr>
              <a:t>ABC 公司简介</a:t>
            </a:r>
          </a:p>
        </p:txBody>
      </p:sp>
      <p:pic>
        <p:nvPicPr>
          <p:cNvPr id="4" name="Picture 3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6050"/>
                </a:solidFill>
                <a:latin typeface="Arial Black"/>
              </a:rPr>
              <a:t>我们是谁</a:t>
            </a:r>
          </a:p>
          <a:p>
            <a:pPr algn="l"/>
            <a:r>
              <a:rPr sz="800" b="0">
                <a:solidFill>
                  <a:srgbClr val="2D3748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2D3748"/>
                </a:solidFill>
                <a:latin typeface="Calibri"/>
              </a:rPr>
              <a:t>ABC 公司成立于 2018 年，专注 6-12 岁儿童综合素质教育。</a:t>
            </a:r>
          </a:p>
          <a:p>
            <a:pPr algn="l"/>
            <a:r>
              <a:rPr sz="800" b="0">
                <a:solidFill>
                  <a:srgbClr val="2D3748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2D3748"/>
                </a:solidFill>
                <a:latin typeface="Calibri"/>
              </a:rPr>
              <a:t>我们相信每个孩子都有独特的天赋，通过科学、艺术、运动、语言四大领域的系统课程，帮助孩子发现自我、建立自信。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371600"/>
            <a:ext cx="3840480" cy="1280160"/>
          </a:xfrm>
          <a:prstGeom prst="rect">
            <a:avLst/>
          </a:prstGeom>
          <a:solidFill>
            <a:srgbClr val="FBD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50876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6050"/>
                </a:solidFill>
                <a:latin typeface="Arial Black"/>
              </a:rPr>
              <a:t>2,800+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148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"/>
              </a:rPr>
              <a:t>累计学员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926080"/>
            <a:ext cx="3840480" cy="1280160"/>
          </a:xfrm>
          <a:prstGeom prst="rect">
            <a:avLst/>
          </a:prstGeom>
          <a:solidFill>
            <a:srgbClr val="FBD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30632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6050"/>
                </a:solidFill>
                <a:latin typeface="Arial Black"/>
              </a:rPr>
              <a:t>4.8/5.0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703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"/>
              </a:rPr>
              <a:t>家长评分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480560"/>
            <a:ext cx="3840480" cy="1280160"/>
          </a:xfrm>
          <a:prstGeom prst="rect">
            <a:avLst/>
          </a:prstGeom>
          <a:solidFill>
            <a:srgbClr val="FBD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4617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06050"/>
                </a:solidFill>
                <a:latin typeface="Arial Black"/>
              </a:rPr>
              <a:t>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5257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"/>
              </a:rPr>
              <a:t>续报率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 Black"/>
              </a:rPr>
              <a:t>02</a:t>
            </a:r>
          </a:p>
          <a:p>
            <a:pPr algn="ctr">
              <a:spcBef>
                <a:spcPts val="1200"/>
              </a:spcBef>
            </a:pPr>
            <a:r>
              <a:rPr sz="3600" b="1">
                <a:solidFill>
                  <a:srgbClr val="FFFFFF"/>
                </a:solidFill>
                <a:latin typeface="Arial Black"/>
              </a:rPr>
              <a:t>课程体系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 Black"/>
              </a:rPr>
              <a:t>四大主题营</a:t>
            </a:r>
          </a:p>
        </p:txBody>
      </p:sp>
      <p:pic>
        <p:nvPicPr>
          <p:cNvPr id="4" name="Picture 3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640080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280160"/>
            <a:ext cx="2651760" cy="109728"/>
          </a:xfrm>
          <a:prstGeom prst="rect">
            <a:avLst/>
          </a:prstGeom>
          <a:solidFill>
            <a:srgbClr val="F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26517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06050"/>
                </a:solidFill>
                <a:latin typeface="Arial Black"/>
              </a:rPr>
              <a:t>科学探索营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97280" cy="320040"/>
          </a:xfrm>
          <a:prstGeom prst="rect">
            <a:avLst/>
          </a:prstGeom>
          <a:solidFill>
            <a:srgbClr val="F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6-9 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  <a:latin typeface="Calibri"/>
              </a:rPr>
              <a:t>物理实验 / 自然观察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2D3748"/>
                </a:solidFill>
                <a:latin typeface="Calibri"/>
              </a:rPr>
              <a:t>编程启蒙 / 创客制作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12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896A6"/>
                </a:solidFill>
                <a:latin typeface="Calibri"/>
              </a:rPr>
              <a:t>每期 5 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280160"/>
            <a:ext cx="2651760" cy="109728"/>
          </a:xfrm>
          <a:prstGeom prst="rect">
            <a:avLst/>
          </a:prstGeom>
          <a:solidFill>
            <a:srgbClr val="1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389888"/>
            <a:ext cx="26517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6459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0C0C0"/>
                </a:solidFill>
                <a:latin typeface="Arial Black"/>
              </a:rPr>
              <a:t>艺术创想营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286000"/>
            <a:ext cx="1097280" cy="320040"/>
          </a:xfrm>
          <a:prstGeom prst="rect">
            <a:avLst/>
          </a:prstGeom>
          <a:solidFill>
            <a:srgbClr val="1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2860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7-12 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346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  <a:latin typeface="Calibri"/>
              </a:rPr>
              <a:t>水彩绘画 / 手工陶艺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2D3748"/>
                </a:solidFill>
                <a:latin typeface="Calibri"/>
              </a:rPr>
              <a:t>戏剧表演 / 音乐律动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212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896A6"/>
                </a:solidFill>
                <a:latin typeface="Calibri"/>
              </a:rPr>
              <a:t>每期 5 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1280160"/>
            <a:ext cx="2651760" cy="109728"/>
          </a:xfrm>
          <a:prstGeom prst="rect">
            <a:avLst/>
          </a:prstGeom>
          <a:solidFill>
            <a:srgbClr val="C8C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1389888"/>
            <a:ext cx="26517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16459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C8C11C"/>
                </a:solidFill>
                <a:latin typeface="Arial Black"/>
              </a:rPr>
              <a:t>运动挑战营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59" y="2286000"/>
            <a:ext cx="1097280" cy="320040"/>
          </a:xfrm>
          <a:prstGeom prst="rect">
            <a:avLst/>
          </a:prstGeom>
          <a:solidFill>
            <a:srgbClr val="C8C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22860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8-12 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28346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  <a:latin typeface="Calibri"/>
              </a:rPr>
              <a:t>攀岩训练 / 定向越野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2D3748"/>
                </a:solidFill>
                <a:latin typeface="Calibri"/>
              </a:rPr>
              <a:t>团队竞技 / 体能测评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5212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896A6"/>
                </a:solidFill>
                <a:latin typeface="Calibri"/>
              </a:rPr>
              <a:t>每期 5 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19" y="1280160"/>
            <a:ext cx="2651760" cy="109728"/>
          </a:xfrm>
          <a:prstGeom prst="rect">
            <a:avLst/>
          </a:prstGeom>
          <a:solidFill>
            <a:srgbClr val="1C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19" y="1389888"/>
            <a:ext cx="26517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19" y="16459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6DC8"/>
                </a:solidFill>
                <a:latin typeface="Arial Black"/>
              </a:rPr>
              <a:t>英语戏剧营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19" y="2286000"/>
            <a:ext cx="1097280" cy="320040"/>
          </a:xfrm>
          <a:prstGeom prst="rect">
            <a:avLst/>
          </a:prstGeom>
          <a:solidFill>
            <a:srgbClr val="1C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19" y="22860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9-12 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28346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  <a:latin typeface="Calibri"/>
              </a:rPr>
              <a:t>全英文沉浸教学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2D3748"/>
                </a:solidFill>
                <a:latin typeface="Calibri"/>
              </a:rPr>
              <a:t>原创话剧排演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19" y="5212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896A6"/>
                </a:solidFill>
                <a:latin typeface="Calibri"/>
              </a:rPr>
              <a:t>每期 5 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 Black"/>
              </a:rPr>
              <a:t>2025 年度数据回顾</a:t>
            </a:r>
          </a:p>
        </p:txBody>
      </p:sp>
      <p:pic>
        <p:nvPicPr>
          <p:cNvPr id="4" name="Picture 3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640080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2194560"/>
          </a:xfrm>
          <a:prstGeom prst="rect">
            <a:avLst/>
          </a:prstGeom>
          <a:solidFill>
            <a:srgbClr val="F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06050"/>
                </a:solidFill>
                <a:latin typeface="Arial Black"/>
              </a:rPr>
              <a:t>1,200+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"/>
              </a:rPr>
              <a:t>年度学员人次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2194560"/>
          </a:xfrm>
          <a:prstGeom prst="rect">
            <a:avLst/>
          </a:prstGeom>
          <a:solidFill>
            <a:srgbClr val="1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0C0C0"/>
                </a:solidFill>
                <a:latin typeface="Arial Black"/>
              </a:rPr>
              <a:t>4.8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43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"/>
              </a:rPr>
              <a:t>家长满意度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73152" cy="2194560"/>
          </a:xfrm>
          <a:prstGeom prst="rect">
            <a:avLst/>
          </a:prstGeom>
          <a:solidFill>
            <a:srgbClr val="C8C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373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C8C11C"/>
                </a:solidFill>
                <a:latin typeface="Arial Black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"/>
              </a:rPr>
              <a:t>秋季续报率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73152" cy="2194560"/>
          </a:xfrm>
          <a:prstGeom prst="rect">
            <a:avLst/>
          </a:prstGeom>
          <a:solidFill>
            <a:srgbClr val="1C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C6DC8"/>
                </a:solidFill>
                <a:latin typeface="Arial Black"/>
              </a:rPr>
              <a:t>180%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"/>
              </a:rPr>
              <a:t>暑期报名增幅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93192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931920"/>
            <a:ext cx="73152" cy="2194560"/>
          </a:xfrm>
          <a:prstGeom prst="rect">
            <a:avLst/>
          </a:prstGeom>
          <a:solidFill>
            <a:srgbClr val="F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2976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06050"/>
                </a:solidFill>
                <a:latin typeface="Arial Black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"/>
              </a:rPr>
              <a:t>合作社区数量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93192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931920"/>
            <a:ext cx="73152" cy="2194560"/>
          </a:xfrm>
          <a:prstGeom prst="rect">
            <a:avLst/>
          </a:prstGeom>
          <a:solidFill>
            <a:srgbClr val="1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2976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0C0C0"/>
                </a:solidFill>
                <a:latin typeface="Arial Black"/>
              </a:rPr>
              <a:t>98%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"/>
              </a:rPr>
              <a:t>安全零事故率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201168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4747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 Black"/>
              </a:rPr>
              <a:t>让每个孩子成为更好的自己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Bef>
                <a:spcPts val="1600"/>
              </a:spcBef>
            </a:pPr>
            <a:r>
              <a:rPr sz="2000" b="0">
                <a:solidFill>
                  <a:srgbClr val="FFCCCC"/>
                </a:solidFill>
                <a:latin typeface="Calibri"/>
              </a:rPr>
              <a:t>扫码预约暑期开放日  |  名额有限，先到先得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53035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CCCC"/>
                </a:solidFill>
                <a:latin typeface="Calibri"/>
              </a:rPr>
              <a:t>电话：400-888-1234  |  微信：ABC_Education  |  地址：XX 市 XX 区创新路 88 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