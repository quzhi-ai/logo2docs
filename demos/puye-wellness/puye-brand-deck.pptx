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731520"/>
            <a:ext cx="201168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286000" y="3200400"/>
            <a:ext cx="75895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800" b="1">
                <a:solidFill>
                  <a:srgbClr val="1A202C"/>
                </a:solidFill>
                <a:latin typeface="Georgia"/>
              </a:rPr>
              <a:t>朴叶堂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389120"/>
            <a:ext cx="7589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800" b="0">
                <a:solidFill>
                  <a:srgbClr val="1A202C"/>
                </a:solidFill>
                <a:latin typeface="Georgia"/>
              </a:rPr>
              <a:t>品牌加盟手册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303520"/>
            <a:ext cx="7589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FFEEDD"/>
                </a:solidFill>
                <a:latin typeface="Calibri Light"/>
              </a:rPr>
              <a:t>一叶知秋 · 一杯知味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1A202C"/>
                </a:solidFill>
                <a:latin typeface="Georgia"/>
              </a:rPr>
              <a:t>01</a:t>
            </a:r>
          </a:p>
          <a:p>
            <a:pPr algn="ctr">
              <a:spcBef>
                <a:spcPts val="1200"/>
              </a:spcBef>
            </a:pPr>
            <a:r>
              <a:rPr sz="3600" b="1">
                <a:solidFill>
                  <a:srgbClr val="1A202C"/>
                </a:solidFill>
                <a:latin typeface="Georgia"/>
              </a:rPr>
              <a:t>品牌故事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A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Georgia"/>
              </a:rPr>
              <a:t>品牌故事</a:t>
            </a:r>
          </a:p>
        </p:txBody>
      </p:sp>
      <p:pic>
        <p:nvPicPr>
          <p:cNvPr id="4" name="Picture 3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640080" cy="6400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09728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8A9A6C"/>
                </a:solidFill>
                <a:latin typeface="Georgia"/>
              </a:rPr>
              <a:t>源于自然 · 归于本真</a:t>
            </a:r>
          </a:p>
          <a:p>
            <a:pPr algn="l"/>
            <a:r>
              <a:rPr sz="800" b="0">
                <a:solidFill>
                  <a:srgbClr val="2D3748"/>
                </a:solidFill>
                <a:latin typeface="Calibri Light"/>
              </a:rPr>
              <a:t/>
            </a:r>
          </a:p>
          <a:p>
            <a:pPr algn="l">
              <a:spcBef>
                <a:spcPts val="800"/>
              </a:spcBef>
            </a:pPr>
            <a:r>
              <a:rPr sz="1700" b="0">
                <a:solidFill>
                  <a:srgbClr val="2D3748"/>
                </a:solidFill>
                <a:latin typeface="Calibri Light"/>
              </a:rPr>
              <a:t>朴叶堂创立于 2019 年，专注原叶手作茶饮。我们从武夷山、安溪、云南核心产区直采茶叶，坚持"看得见茶叶"的透明制茶理念。</a:t>
            </a:r>
          </a:p>
          <a:p>
            <a:pPr algn="l"/>
            <a:r>
              <a:rPr sz="800" b="0">
                <a:solidFill>
                  <a:srgbClr val="2D3748"/>
                </a:solidFill>
                <a:latin typeface="Calibri Light"/>
              </a:rPr>
              <a:t/>
            </a:r>
          </a:p>
          <a:p>
            <a:pPr algn="l">
              <a:spcBef>
                <a:spcPts val="400"/>
              </a:spcBef>
            </a:pPr>
            <a:r>
              <a:rPr sz="1700" b="0">
                <a:solidFill>
                  <a:srgbClr val="2D3748"/>
                </a:solidFill>
                <a:latin typeface="Calibri Light"/>
              </a:rPr>
              <a:t>每一杯茶，从茶园到杯中不超过 72 小时。不加香精、不用茶粉、不过度萃取。让消费者重新感受茶的本来面目。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0" y="1371600"/>
            <a:ext cx="3840480" cy="1280160"/>
          </a:xfrm>
          <a:prstGeom prst="rect">
            <a:avLst/>
          </a:prstGeom>
          <a:solidFill>
            <a:srgbClr val="EB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06640" y="150876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8A9A6C"/>
                </a:solidFill>
                <a:latin typeface="Georgia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214884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 Light"/>
              </a:rPr>
              <a:t>门店覆盖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0" y="2926080"/>
            <a:ext cx="3840480" cy="1280160"/>
          </a:xfrm>
          <a:prstGeom prst="rect">
            <a:avLst/>
          </a:prstGeom>
          <a:solidFill>
            <a:srgbClr val="EB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306324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8A9A6C"/>
                </a:solidFill>
                <a:latin typeface="Georgia"/>
              </a:rPr>
              <a:t>4.9/5.0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70332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 Light"/>
              </a:rPr>
              <a:t>大众点评均分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4480560"/>
            <a:ext cx="3840480" cy="1280160"/>
          </a:xfrm>
          <a:prstGeom prst="rect">
            <a:avLst/>
          </a:prstGeom>
          <a:solidFill>
            <a:srgbClr val="EB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06640" y="4617720"/>
            <a:ext cx="3200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8A9A6C"/>
                </a:solidFill>
                <a:latin typeface="Georgia"/>
              </a:rPr>
              <a:t>78%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5257800"/>
            <a:ext cx="3200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 Light"/>
              </a:rPr>
              <a:t>月复购率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1440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200" b="1">
                <a:solidFill>
                  <a:srgbClr val="1A202C"/>
                </a:solidFill>
                <a:latin typeface="Georgia"/>
              </a:rPr>
              <a:t>02</a:t>
            </a:r>
          </a:p>
          <a:p>
            <a:pPr algn="ctr">
              <a:spcBef>
                <a:spcPts val="1200"/>
              </a:spcBef>
            </a:pPr>
            <a:r>
              <a:rPr sz="3600" b="1">
                <a:solidFill>
                  <a:srgbClr val="1A202C"/>
                </a:solidFill>
                <a:latin typeface="Georgia"/>
              </a:rPr>
              <a:t>加盟方案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A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Georgia"/>
              </a:rPr>
              <a:t>三种加盟模式</a:t>
            </a:r>
          </a:p>
        </p:txBody>
      </p:sp>
      <p:pic>
        <p:nvPicPr>
          <p:cNvPr id="4" name="Picture 3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640080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280160"/>
            <a:ext cx="3474720" cy="91440"/>
          </a:xfrm>
          <a:prstGeom prst="rect">
            <a:avLst/>
          </a:prstGeom>
          <a:solidFill>
            <a:srgbClr val="8A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4747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6459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8A9A6C"/>
                </a:solidFill>
                <a:latin typeface="Georgia"/>
              </a:rPr>
              <a:t>轻盈店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1945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896A6"/>
                </a:solidFill>
                <a:latin typeface="Calibri Light"/>
              </a:rPr>
              <a:t>15-30 m²  |  投资 18-25 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7432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  <a:latin typeface="Calibri Light"/>
              </a:rPr>
              <a:t>外卖+外带为主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2D3748"/>
                </a:solidFill>
                <a:latin typeface="Calibri Light"/>
              </a:rPr>
              <a:t>标准吧台 + 2 人团队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2D3748"/>
                </a:solidFill>
                <a:latin typeface="Calibri Light"/>
              </a:rPr>
              <a:t>适合商场档口/写字楼底商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59" y="1280160"/>
            <a:ext cx="3474720" cy="91440"/>
          </a:xfrm>
          <a:prstGeom prst="rect">
            <a:avLst/>
          </a:prstGeom>
          <a:solidFill>
            <a:srgbClr val="D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34747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79" y="16459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D4956A"/>
                </a:solidFill>
                <a:latin typeface="Georgia"/>
              </a:rPr>
              <a:t>标准店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79" y="21945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896A6"/>
                </a:solidFill>
                <a:latin typeface="Calibri Light"/>
              </a:rPr>
              <a:t>40-60 m²  |  投资 35-50 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79" y="27432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  <a:latin typeface="Calibri Light"/>
              </a:rPr>
              <a:t>堂食+外卖均衡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2D3748"/>
                </a:solidFill>
                <a:latin typeface="Calibri Light"/>
              </a:rPr>
              <a:t>完整吧台 + 茶座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2D3748"/>
                </a:solidFill>
                <a:latin typeface="Calibri Light"/>
              </a:rPr>
              <a:t>适合社区/商业街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280160"/>
            <a:ext cx="3474720" cy="91440"/>
          </a:xfrm>
          <a:prstGeom prst="rect">
            <a:avLst/>
          </a:prstGeom>
          <a:solidFill>
            <a:srgbClr val="535D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9600" y="1371600"/>
            <a:ext cx="3474720" cy="4937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0" y="16459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535D40"/>
                </a:solidFill>
                <a:latin typeface="Georgia"/>
              </a:rPr>
              <a:t>旗舰店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0" y="2194560"/>
            <a:ext cx="29260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8896A6"/>
                </a:solidFill>
                <a:latin typeface="Calibri Light"/>
              </a:rPr>
              <a:t>80-120 m²  |  投资 60-90 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2743200"/>
            <a:ext cx="2926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3748"/>
                </a:solidFill>
                <a:latin typeface="Calibri Light"/>
              </a:rPr>
              <a:t>沉浸式体验空间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2D3748"/>
                </a:solidFill>
                <a:latin typeface="Calibri Light"/>
              </a:rPr>
              <a:t>茶室+零售+茶课</a:t>
            </a:r>
          </a:p>
          <a:p>
            <a:pPr algn="l">
              <a:spcBef>
                <a:spcPts val="800"/>
              </a:spcBef>
            </a:pPr>
            <a:r>
              <a:rPr sz="1500" b="0">
                <a:solidFill>
                  <a:srgbClr val="2D3748"/>
                </a:solidFill>
                <a:latin typeface="Calibri Light"/>
              </a:rPr>
              <a:t>适合核心商圈/文化街区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8A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600" b="1">
                <a:solidFill>
                  <a:srgbClr val="1A202C"/>
                </a:solidFill>
                <a:latin typeface="Georgia"/>
              </a:rPr>
              <a:t>经营数据</a:t>
            </a:r>
          </a:p>
        </p:txBody>
      </p:sp>
      <p:pic>
        <p:nvPicPr>
          <p:cNvPr id="4" name="Picture 3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0" y="137160"/>
            <a:ext cx="640080" cy="6400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371600"/>
            <a:ext cx="3291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73152" cy="2194560"/>
          </a:xfrm>
          <a:prstGeom prst="rect">
            <a:avLst/>
          </a:prstGeom>
          <a:solidFill>
            <a:srgbClr val="8A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373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8A9A6C"/>
                </a:solidFill>
                <a:latin typeface="Georgia"/>
              </a:rPr>
              <a:t>128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743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 Light"/>
              </a:rPr>
              <a:t>门店数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371600"/>
            <a:ext cx="3291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371600"/>
            <a:ext cx="73152" cy="2194560"/>
          </a:xfrm>
          <a:prstGeom prst="rect">
            <a:avLst/>
          </a:prstGeom>
          <a:solidFill>
            <a:srgbClr val="D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17373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D4956A"/>
                </a:solidFill>
                <a:latin typeface="Georgia"/>
              </a:rPr>
              <a:t>18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2743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 Light"/>
              </a:rPr>
              <a:t>月均回本周期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1371600"/>
            <a:ext cx="3291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371600"/>
            <a:ext cx="73152" cy="2194560"/>
          </a:xfrm>
          <a:prstGeom prst="rect">
            <a:avLst/>
          </a:prstGeom>
          <a:solidFill>
            <a:srgbClr val="8A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73736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8A9A6C"/>
                </a:solidFill>
                <a:latin typeface="Georgia"/>
              </a:rPr>
              <a:t>¥8,500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74320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 Light"/>
              </a:rPr>
              <a:t>日均营业额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931920"/>
            <a:ext cx="3291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3931920"/>
            <a:ext cx="73152" cy="2194560"/>
          </a:xfrm>
          <a:prstGeom prst="rect">
            <a:avLst/>
          </a:prstGeom>
          <a:solidFill>
            <a:srgbClr val="D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42976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D4956A"/>
                </a:solidFill>
                <a:latin typeface="Georgia"/>
              </a:rPr>
              <a:t>62%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5303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 Light"/>
              </a:rPr>
              <a:t>毛利率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0" y="3931920"/>
            <a:ext cx="3291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3931920"/>
            <a:ext cx="73152" cy="2194560"/>
          </a:xfrm>
          <a:prstGeom prst="rect">
            <a:avLst/>
          </a:prstGeom>
          <a:solidFill>
            <a:srgbClr val="8A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4880" y="42976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8A9A6C"/>
                </a:solidFill>
                <a:latin typeface="Georgia"/>
              </a:rPr>
              <a:t>78%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54880" y="5303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 Light"/>
              </a:rPr>
              <a:t>月复购率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931920"/>
            <a:ext cx="3291840" cy="21945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931920"/>
            <a:ext cx="73152" cy="2194560"/>
          </a:xfrm>
          <a:prstGeom prst="rect">
            <a:avLst/>
          </a:prstGeom>
          <a:solidFill>
            <a:srgbClr val="D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412480" y="4297680"/>
            <a:ext cx="2743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000" b="1">
                <a:solidFill>
                  <a:srgbClr val="D4956A"/>
                </a:solidFill>
                <a:latin typeface="Georgia"/>
              </a:rPr>
              <a:t>96%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12480" y="5303520"/>
            <a:ext cx="2743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8896A6"/>
                </a:solidFill>
                <a:latin typeface="Calibri Light"/>
              </a:rPr>
              <a:t>加盟商续约率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8A9A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914400"/>
            <a:ext cx="2011680" cy="2011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347472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A202C"/>
                </a:solidFill>
                <a:latin typeface="Georgia"/>
              </a:rPr>
              <a:t>一叶知秋 · 一杯知味</a:t>
            </a:r>
          </a:p>
          <a:p>
            <a:pPr algn="l"/>
            <a:r>
              <a:rPr sz="1200" b="0">
                <a:solidFill>
                  <a:srgbClr val="1A202C"/>
                </a:solidFill>
                <a:latin typeface="Calibri Light"/>
              </a:rPr>
              <a:t/>
            </a:r>
          </a:p>
          <a:p>
            <a:pPr algn="ctr">
              <a:spcBef>
                <a:spcPts val="1600"/>
              </a:spcBef>
            </a:pPr>
            <a:r>
              <a:rPr sz="1800" b="0">
                <a:solidFill>
                  <a:srgbClr val="FFEEDD"/>
                </a:solidFill>
                <a:latin typeface="Calibri Light"/>
              </a:rPr>
              <a:t>加盟热线 400-520-1897  |  puye@puyetang.com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492240"/>
            <a:ext cx="12191695" cy="365760"/>
          </a:xfrm>
          <a:prstGeom prst="rect">
            <a:avLst/>
          </a:prstGeom>
          <a:solidFill>
            <a:srgbClr val="D495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